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235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717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361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17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870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049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989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243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383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380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621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46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971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1049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517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728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146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3482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3790" y="2632315"/>
            <a:ext cx="7976420" cy="1160750"/>
          </a:xfrm>
        </p:spPr>
        <p:txBody>
          <a:bodyPr/>
          <a:lstStyle/>
          <a:p>
            <a:pPr algn="ctr"/>
            <a:r>
              <a:rPr dirty="0" err="1"/>
              <a:t>Híres</a:t>
            </a:r>
            <a:r>
              <a:rPr dirty="0"/>
              <a:t> </a:t>
            </a:r>
            <a:r>
              <a:rPr dirty="0" err="1"/>
              <a:t>női</a:t>
            </a:r>
            <a:r>
              <a:rPr lang="hu-HU" dirty="0"/>
              <a:t> </a:t>
            </a:r>
            <a:r>
              <a:rPr dirty="0" err="1"/>
              <a:t>programozók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09600"/>
            <a:ext cx="4711700" cy="1456267"/>
          </a:xfrm>
        </p:spPr>
        <p:txBody>
          <a:bodyPr>
            <a:normAutofit/>
          </a:bodyPr>
          <a:lstStyle/>
          <a:p>
            <a:r>
              <a:t>Ada Lovelace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2142067"/>
            <a:ext cx="4711700" cy="3649133"/>
          </a:xfrm>
        </p:spPr>
        <p:txBody>
          <a:bodyPr>
            <a:normAutofit/>
          </a:bodyPr>
          <a:lstStyle/>
          <a:p>
            <a:r>
              <a:rPr lang="hu-HU" dirty="0">
                <a:cs typeface="Arial" panose="020B0604020202020204" pitchFamily="34" charset="0"/>
              </a:rPr>
              <a:t>- Az első programozó a történelemben</a:t>
            </a:r>
          </a:p>
          <a:p>
            <a:r>
              <a:rPr lang="hu-HU" dirty="0">
                <a:cs typeface="Arial" panose="020B0604020202020204" pitchFamily="34" charset="0"/>
              </a:rPr>
              <a:t>- Charles </a:t>
            </a:r>
            <a:r>
              <a:rPr lang="hu-HU" dirty="0" err="1">
                <a:cs typeface="Arial" panose="020B0604020202020204" pitchFamily="34" charset="0"/>
              </a:rPr>
              <a:t>Babbage</a:t>
            </a:r>
            <a:r>
              <a:rPr lang="hu-HU" dirty="0">
                <a:cs typeface="Arial" panose="020B0604020202020204" pitchFamily="34" charset="0"/>
              </a:rPr>
              <a:t> analitikus gépéhez írt algoritmust</a:t>
            </a:r>
          </a:p>
          <a:p>
            <a:r>
              <a:rPr lang="hu-HU" dirty="0">
                <a:cs typeface="Arial" panose="020B0604020202020204" pitchFamily="34" charset="0"/>
              </a:rPr>
              <a:t>- Látomása volt a számítógépek jövőjéről</a:t>
            </a:r>
          </a:p>
          <a:p>
            <a:r>
              <a:rPr lang="hu-HU" dirty="0">
                <a:cs typeface="Arial" panose="020B0604020202020204" pitchFamily="34" charset="0"/>
              </a:rPr>
              <a:t>- A programozás anyjának tartják</a:t>
            </a:r>
          </a:p>
          <a:p>
            <a:endParaRPr dirty="0"/>
          </a:p>
        </p:txBody>
      </p:sp>
      <p:pic>
        <p:nvPicPr>
          <p:cNvPr id="1026" name="Picture 2" descr="Ada Lovelace, the First Tech Visionary | The New Yorker">
            <a:extLst>
              <a:ext uri="{FF2B5EF4-FFF2-40B4-BE49-F238E27FC236}">
                <a16:creationId xmlns:a16="http://schemas.microsoft.com/office/drawing/2014/main" id="{D49638DE-A942-75A1-F2EB-9C65593F0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93202" y="2423040"/>
            <a:ext cx="2584285" cy="1935719"/>
          </a:xfrm>
          <a:prstGeom prst="roundRect">
            <a:avLst>
              <a:gd name="adj" fmla="val 4380"/>
            </a:avLst>
          </a:prstGeom>
          <a:noFill/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09600"/>
            <a:ext cx="4711700" cy="1456267"/>
          </a:xfrm>
        </p:spPr>
        <p:txBody>
          <a:bodyPr>
            <a:normAutofit/>
          </a:bodyPr>
          <a:lstStyle/>
          <a:p>
            <a:r>
              <a:t>Grace Hopper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2142067"/>
            <a:ext cx="4711700" cy="3649133"/>
          </a:xfrm>
        </p:spPr>
        <p:txBody>
          <a:bodyPr>
            <a:normAutofit/>
          </a:bodyPr>
          <a:lstStyle/>
          <a:p>
            <a:r>
              <a:rPr dirty="0"/>
              <a:t>- Az </a:t>
            </a:r>
            <a:r>
              <a:rPr dirty="0" err="1"/>
              <a:t>amerikai</a:t>
            </a:r>
            <a:r>
              <a:rPr dirty="0"/>
              <a:t> </a:t>
            </a:r>
            <a:r>
              <a:rPr dirty="0" err="1"/>
              <a:t>haditengerészet</a:t>
            </a:r>
            <a:r>
              <a:rPr dirty="0"/>
              <a:t> </a:t>
            </a:r>
            <a:r>
              <a:rPr dirty="0" err="1"/>
              <a:t>admirálisa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úttörő</a:t>
            </a:r>
            <a:r>
              <a:rPr dirty="0"/>
              <a:t> </a:t>
            </a:r>
            <a:r>
              <a:rPr dirty="0" err="1"/>
              <a:t>programozó</a:t>
            </a:r>
            <a:endParaRPr dirty="0"/>
          </a:p>
          <a:p>
            <a:r>
              <a:rPr dirty="0"/>
              <a:t>- </a:t>
            </a:r>
            <a:r>
              <a:rPr dirty="0" err="1"/>
              <a:t>Megalkotta</a:t>
            </a:r>
            <a:r>
              <a:rPr dirty="0"/>
              <a:t> </a:t>
            </a:r>
            <a:r>
              <a:rPr dirty="0" err="1"/>
              <a:t>az</a:t>
            </a:r>
            <a:r>
              <a:rPr dirty="0"/>
              <a:t> </a:t>
            </a:r>
            <a:r>
              <a:rPr dirty="0" err="1"/>
              <a:t>első</a:t>
            </a:r>
            <a:r>
              <a:rPr dirty="0"/>
              <a:t> compiler-t</a:t>
            </a:r>
          </a:p>
          <a:p>
            <a:r>
              <a:rPr dirty="0"/>
              <a:t>- A COBOL </a:t>
            </a:r>
            <a:r>
              <a:rPr dirty="0" err="1"/>
              <a:t>nyelv</a:t>
            </a:r>
            <a:r>
              <a:rPr dirty="0"/>
              <a:t> </a:t>
            </a:r>
            <a:r>
              <a:rPr dirty="0" err="1"/>
              <a:t>egyik</a:t>
            </a:r>
            <a:r>
              <a:rPr dirty="0"/>
              <a:t> </a:t>
            </a:r>
            <a:r>
              <a:rPr dirty="0" err="1"/>
              <a:t>megteremtője</a:t>
            </a:r>
            <a:endParaRPr dirty="0"/>
          </a:p>
          <a:p>
            <a:r>
              <a:rPr dirty="0"/>
              <a:t>- A debugging </a:t>
            </a:r>
            <a:r>
              <a:rPr dirty="0" err="1"/>
              <a:t>kifejezés</a:t>
            </a:r>
            <a:r>
              <a:rPr dirty="0"/>
              <a:t> </a:t>
            </a:r>
            <a:r>
              <a:rPr dirty="0" err="1"/>
              <a:t>elterjesztője</a:t>
            </a:r>
            <a:endParaRPr dirty="0"/>
          </a:p>
          <a:p>
            <a:endParaRPr dirty="0"/>
          </a:p>
        </p:txBody>
      </p:sp>
      <p:pic>
        <p:nvPicPr>
          <p:cNvPr id="2050" name="Picture 2" descr="Grace Hopper | Biography, Accomplishments, &amp; Facts | Britannica">
            <a:extLst>
              <a:ext uri="{FF2B5EF4-FFF2-40B4-BE49-F238E27FC236}">
                <a16:creationId xmlns:a16="http://schemas.microsoft.com/office/drawing/2014/main" id="{9C8AEA4F-D49E-75B8-8998-2D21153CA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93202" y="1701824"/>
            <a:ext cx="2584285" cy="3378150"/>
          </a:xfrm>
          <a:prstGeom prst="roundRect">
            <a:avLst>
              <a:gd name="adj" fmla="val 4380"/>
            </a:avLst>
          </a:prstGeom>
          <a:noFill/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09600"/>
            <a:ext cx="4711700" cy="1456267"/>
          </a:xfrm>
        </p:spPr>
        <p:txBody>
          <a:bodyPr>
            <a:normAutofit/>
          </a:bodyPr>
          <a:lstStyle/>
          <a:p>
            <a:r>
              <a:t>Margaret Hamilton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2142067"/>
            <a:ext cx="4711700" cy="3649133"/>
          </a:xfrm>
        </p:spPr>
        <p:txBody>
          <a:bodyPr>
            <a:normAutofit/>
          </a:bodyPr>
          <a:lstStyle/>
          <a:p>
            <a:r>
              <a:rPr dirty="0"/>
              <a:t>- A NASA Apollo-</a:t>
            </a:r>
            <a:r>
              <a:rPr dirty="0" err="1"/>
              <a:t>programjának</a:t>
            </a:r>
            <a:r>
              <a:rPr dirty="0"/>
              <a:t> </a:t>
            </a:r>
            <a:r>
              <a:rPr dirty="0" err="1"/>
              <a:t>vezető</a:t>
            </a:r>
            <a:r>
              <a:rPr dirty="0"/>
              <a:t> </a:t>
            </a:r>
            <a:r>
              <a:rPr dirty="0" err="1"/>
              <a:t>szoftvermérnöke</a:t>
            </a:r>
            <a:endParaRPr dirty="0"/>
          </a:p>
          <a:p>
            <a:r>
              <a:rPr dirty="0"/>
              <a:t>- Az Apollo 11 </a:t>
            </a:r>
            <a:r>
              <a:rPr dirty="0" err="1"/>
              <a:t>fedélzeti</a:t>
            </a:r>
            <a:r>
              <a:rPr dirty="0"/>
              <a:t> </a:t>
            </a:r>
            <a:r>
              <a:rPr dirty="0" err="1"/>
              <a:t>szoftverének</a:t>
            </a:r>
            <a:r>
              <a:rPr dirty="0"/>
              <a:t> </a:t>
            </a:r>
            <a:r>
              <a:rPr dirty="0" err="1"/>
              <a:t>megalkotója</a:t>
            </a:r>
            <a:endParaRPr dirty="0"/>
          </a:p>
          <a:p>
            <a:r>
              <a:rPr dirty="0"/>
              <a:t>- A </a:t>
            </a:r>
            <a:r>
              <a:rPr dirty="0" err="1"/>
              <a:t>szoftverfejlesztés</a:t>
            </a:r>
            <a:r>
              <a:rPr dirty="0"/>
              <a:t> mint </a:t>
            </a:r>
            <a:r>
              <a:rPr dirty="0" err="1"/>
              <a:t>mérnöki</a:t>
            </a:r>
            <a:r>
              <a:rPr dirty="0"/>
              <a:t> </a:t>
            </a:r>
            <a:r>
              <a:rPr dirty="0" err="1"/>
              <a:t>tudomány</a:t>
            </a:r>
            <a:r>
              <a:rPr dirty="0"/>
              <a:t> </a:t>
            </a:r>
            <a:r>
              <a:rPr dirty="0" err="1"/>
              <a:t>megteremtője</a:t>
            </a:r>
            <a:endParaRPr dirty="0"/>
          </a:p>
          <a:p>
            <a:endParaRPr dirty="0"/>
          </a:p>
        </p:txBody>
      </p:sp>
      <p:pic>
        <p:nvPicPr>
          <p:cNvPr id="3074" name="Picture 2" descr="Margaret Hamilton - NASA Science">
            <a:extLst>
              <a:ext uri="{FF2B5EF4-FFF2-40B4-BE49-F238E27FC236}">
                <a16:creationId xmlns:a16="http://schemas.microsoft.com/office/drawing/2014/main" id="{5DA9D195-DC38-E4FE-53C8-F5E275513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42" r="12165" b="-4"/>
          <a:stretch>
            <a:fillRect/>
          </a:stretch>
        </p:blipFill>
        <p:spPr bwMode="auto">
          <a:xfrm>
            <a:off x="5693202" y="990600"/>
            <a:ext cx="2584285" cy="4800599"/>
          </a:xfrm>
          <a:prstGeom prst="roundRect">
            <a:avLst>
              <a:gd name="adj" fmla="val 4380"/>
            </a:avLst>
          </a:prstGeom>
          <a:noFill/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09600"/>
            <a:ext cx="4711700" cy="1456267"/>
          </a:xfrm>
        </p:spPr>
        <p:txBody>
          <a:bodyPr>
            <a:normAutofit/>
          </a:bodyPr>
          <a:lstStyle/>
          <a:p>
            <a:r>
              <a:t>Katherine Johnson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2142067"/>
            <a:ext cx="4711700" cy="3649133"/>
          </a:xfrm>
        </p:spPr>
        <p:txBody>
          <a:bodyPr>
            <a:normAutofit/>
          </a:bodyPr>
          <a:lstStyle/>
          <a:p>
            <a:r>
              <a:t>- Matematikus és űrkutató</a:t>
            </a:r>
          </a:p>
          <a:p>
            <a:r>
              <a:t>- Ő számolta ki az első amerikai űrhajósok pályáit</a:t>
            </a:r>
          </a:p>
          <a:p>
            <a:r>
              <a:t>- A Hidden Figures film egyik fő alakja</a:t>
            </a:r>
          </a:p>
          <a:p>
            <a:endParaRPr/>
          </a:p>
        </p:txBody>
      </p:sp>
      <p:pic>
        <p:nvPicPr>
          <p:cNvPr id="4098" name="Picture 2" descr="Katherine Johnson, who helped send Apollo to the moon, wins Hubbard ...">
            <a:extLst>
              <a:ext uri="{FF2B5EF4-FFF2-40B4-BE49-F238E27FC236}">
                <a16:creationId xmlns:a16="http://schemas.microsoft.com/office/drawing/2014/main" id="{99DF8581-A4E3-BB1C-FBDD-6981C974D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90" r="14642" b="3"/>
          <a:stretch>
            <a:fillRect/>
          </a:stretch>
        </p:blipFill>
        <p:spPr bwMode="auto">
          <a:xfrm>
            <a:off x="5693202" y="990600"/>
            <a:ext cx="2584285" cy="4800599"/>
          </a:xfrm>
          <a:prstGeom prst="roundRect">
            <a:avLst>
              <a:gd name="adj" fmla="val 4380"/>
            </a:avLst>
          </a:prstGeom>
          <a:noFill/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09600"/>
            <a:ext cx="4711700" cy="1456267"/>
          </a:xfrm>
        </p:spPr>
        <p:txBody>
          <a:bodyPr>
            <a:normAutofit/>
          </a:bodyPr>
          <a:lstStyle/>
          <a:p>
            <a:r>
              <a:t>Radia Perlman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2142067"/>
            <a:ext cx="4711700" cy="3649133"/>
          </a:xfrm>
        </p:spPr>
        <p:txBody>
          <a:bodyPr>
            <a:normAutofit/>
          </a:bodyPr>
          <a:lstStyle/>
          <a:p>
            <a:r>
              <a:rPr dirty="0"/>
              <a:t>- A </a:t>
            </a:r>
            <a:r>
              <a:rPr dirty="0" err="1"/>
              <a:t>világháló</a:t>
            </a:r>
            <a:r>
              <a:rPr dirty="0"/>
              <a:t> </a:t>
            </a:r>
            <a:r>
              <a:rPr dirty="0" err="1"/>
              <a:t>anyja</a:t>
            </a:r>
            <a:endParaRPr dirty="0"/>
          </a:p>
          <a:p>
            <a:r>
              <a:rPr dirty="0"/>
              <a:t>- </a:t>
            </a:r>
            <a:r>
              <a:rPr dirty="0" err="1"/>
              <a:t>Megalkotta</a:t>
            </a:r>
            <a:r>
              <a:rPr dirty="0"/>
              <a:t> a Spanning Tree </a:t>
            </a:r>
            <a:r>
              <a:rPr dirty="0" err="1"/>
              <a:t>Protocolt</a:t>
            </a:r>
            <a:r>
              <a:rPr dirty="0"/>
              <a:t> (STP)</a:t>
            </a:r>
          </a:p>
          <a:p>
            <a:r>
              <a:rPr dirty="0"/>
              <a:t>- A modern internet </a:t>
            </a:r>
            <a:r>
              <a:rPr dirty="0" err="1"/>
              <a:t>hálózati</a:t>
            </a:r>
            <a:r>
              <a:rPr dirty="0"/>
              <a:t> </a:t>
            </a:r>
            <a:r>
              <a:rPr dirty="0" err="1"/>
              <a:t>struktúrájának</a:t>
            </a:r>
            <a:r>
              <a:rPr dirty="0"/>
              <a:t> </a:t>
            </a:r>
            <a:r>
              <a:rPr dirty="0" err="1"/>
              <a:t>alapja</a:t>
            </a:r>
            <a:endParaRPr dirty="0"/>
          </a:p>
          <a:p>
            <a:endParaRPr dirty="0"/>
          </a:p>
        </p:txBody>
      </p:sp>
      <p:pic>
        <p:nvPicPr>
          <p:cNvPr id="5122" name="Picture 2" descr="Radia Perlman | National Inventors Hall of Fame® Inductee">
            <a:extLst>
              <a:ext uri="{FF2B5EF4-FFF2-40B4-BE49-F238E27FC236}">
                <a16:creationId xmlns:a16="http://schemas.microsoft.com/office/drawing/2014/main" id="{83A8C74B-59F9-480F-ED94-19B74F833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93202" y="1497650"/>
            <a:ext cx="2584285" cy="3786498"/>
          </a:xfrm>
          <a:prstGeom prst="roundRect">
            <a:avLst>
              <a:gd name="adj" fmla="val 4380"/>
            </a:avLst>
          </a:prstGeom>
          <a:noFill/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09600"/>
            <a:ext cx="4711700" cy="1456267"/>
          </a:xfrm>
        </p:spPr>
        <p:txBody>
          <a:bodyPr>
            <a:normAutofit/>
          </a:bodyPr>
          <a:lstStyle/>
          <a:p>
            <a:r>
              <a:t>Annie Easley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2142067"/>
            <a:ext cx="4711700" cy="3649133"/>
          </a:xfrm>
        </p:spPr>
        <p:txBody>
          <a:bodyPr>
            <a:normAutofit/>
          </a:bodyPr>
          <a:lstStyle/>
          <a:p>
            <a:r>
              <a:t>- NASA-programozó és matematikus</a:t>
            </a:r>
          </a:p>
          <a:p>
            <a:r>
              <a:t>- A Centaur rakétaprogram kulcsfigurája</a:t>
            </a:r>
          </a:p>
          <a:p>
            <a:r>
              <a:t>- A STEM sokszínűségének úttörője</a:t>
            </a:r>
          </a:p>
          <a:p>
            <a:endParaRPr/>
          </a:p>
        </p:txBody>
      </p:sp>
      <p:pic>
        <p:nvPicPr>
          <p:cNvPr id="6146" name="Picture 2" descr="Annie Easley - Mathematician, computer scientist and rocket scientist ...">
            <a:extLst>
              <a:ext uri="{FF2B5EF4-FFF2-40B4-BE49-F238E27FC236}">
                <a16:creationId xmlns:a16="http://schemas.microsoft.com/office/drawing/2014/main" id="{6ED96B4D-CAA2-2272-8BF5-B634043CB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95" r="264" b="-4"/>
          <a:stretch>
            <a:fillRect/>
          </a:stretch>
        </p:blipFill>
        <p:spPr bwMode="auto">
          <a:xfrm>
            <a:off x="5693202" y="990600"/>
            <a:ext cx="2584285" cy="4800599"/>
          </a:xfrm>
          <a:prstGeom prst="roundRect">
            <a:avLst>
              <a:gd name="adj" fmla="val 4380"/>
            </a:avLst>
          </a:prstGeom>
          <a:noFill/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6022" y="2991192"/>
            <a:ext cx="7651956" cy="875615"/>
          </a:xfrm>
        </p:spPr>
        <p:txBody>
          <a:bodyPr/>
          <a:lstStyle/>
          <a:p>
            <a:pPr algn="ctr"/>
            <a:r>
              <a:rPr dirty="0" err="1"/>
              <a:t>Köszönöm</a:t>
            </a:r>
            <a:r>
              <a:rPr dirty="0"/>
              <a:t> a </a:t>
            </a:r>
            <a:r>
              <a:rPr dirty="0" err="1"/>
              <a:t>figyelmet</a:t>
            </a:r>
            <a:r>
              <a:rPr dirty="0"/>
              <a:t>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Égi">
  <a:themeElements>
    <a:clrScheme name="Égi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Égi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Égi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TM03457452[[fn=Égi]]</Template>
  <TotalTime>7</TotalTime>
  <Words>142</Words>
  <Application>Microsoft Office PowerPoint</Application>
  <PresentationFormat>Diavetítés a képernyőre (4:3 oldalarány)</PresentationFormat>
  <Paragraphs>28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Égi</vt:lpstr>
      <vt:lpstr>Híres női programozók</vt:lpstr>
      <vt:lpstr>Ada Lovelace</vt:lpstr>
      <vt:lpstr>Grace Hopper</vt:lpstr>
      <vt:lpstr>Margaret Hamilton</vt:lpstr>
      <vt:lpstr>Katherine Johnson</vt:lpstr>
      <vt:lpstr>Radia Perlman</vt:lpstr>
      <vt:lpstr>Annie Easley</vt:lpstr>
      <vt:lpstr>Köszönöm a figyelmet!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Gajdos Csanád</cp:lastModifiedBy>
  <cp:revision>2</cp:revision>
  <dcterms:created xsi:type="dcterms:W3CDTF">2013-01-27T09:14:16Z</dcterms:created>
  <dcterms:modified xsi:type="dcterms:W3CDTF">2026-03-11T10:10:23Z</dcterms:modified>
  <cp:category/>
</cp:coreProperties>
</file>